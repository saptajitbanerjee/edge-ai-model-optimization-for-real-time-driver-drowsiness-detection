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Open Sans SemiBold"/>
      <p:regular r:id="rId19"/>
      <p:bold r:id="rId20"/>
      <p:italic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DCF49F-226C-46F7-8EDB-66AEBBD171CA}">
  <a:tblStyle styleId="{E0DCF49F-226C-46F7-8EDB-66AEBBD171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SemiBold-bold.fntdata"/><Relationship Id="rId22" Type="http://schemas.openxmlformats.org/officeDocument/2006/relationships/font" Target="fonts/OpenSansSemiBold-boldItalic.fntdata"/><Relationship Id="rId21" Type="http://schemas.openxmlformats.org/officeDocument/2006/relationships/font" Target="fonts/OpenSansSemiBold-italic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OpenSans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953865fc0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953865fc0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4f59382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4f59382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4b472277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4b472277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699cda5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699cda5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699cda58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699cda58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699cda58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699cda58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699cda58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699cda58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3f8c249f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3f8c249f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3f8c249f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3f8c249f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dfbd129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dfbd129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dfbd1292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dfbd1292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dfbd1292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dfbd1292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-39500" y="5002800"/>
            <a:ext cx="9183600" cy="1407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-39500" y="5002800"/>
            <a:ext cx="9183600" cy="1407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-39500" y="5002800"/>
            <a:ext cx="9183600" cy="1407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" name="Google Shape;25;p4"/>
          <p:cNvCxnSpPr/>
          <p:nvPr/>
        </p:nvCxnSpPr>
        <p:spPr>
          <a:xfrm>
            <a:off x="3350" y="937925"/>
            <a:ext cx="9154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39500" y="5002800"/>
            <a:ext cx="9183600" cy="1407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" name="Google Shape;32;p5"/>
          <p:cNvCxnSpPr/>
          <p:nvPr/>
        </p:nvCxnSpPr>
        <p:spPr>
          <a:xfrm>
            <a:off x="3350" y="937925"/>
            <a:ext cx="9154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-39500" y="5002800"/>
            <a:ext cx="9183600" cy="1407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" name="Google Shape;37;p6"/>
          <p:cNvCxnSpPr/>
          <p:nvPr/>
        </p:nvCxnSpPr>
        <p:spPr>
          <a:xfrm>
            <a:off x="3350" y="937925"/>
            <a:ext cx="9154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-39500" y="5002800"/>
            <a:ext cx="9183600" cy="1407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287825" y="80825"/>
            <a:ext cx="773074" cy="77307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Q1HJWatdfdkFhBP67EMAIo1Va5AfOLrR/view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w-HXvJaIe_QirnfU_knCWC5aDDjdoGaR/view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3PdvE90Wr4MXm_ZO_LswlcWxIm20bkDf/view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1"/>
              <a:buFont typeface="Arial"/>
              <a:buNone/>
            </a:pPr>
            <a:r>
              <a:rPr lang="en" sz="3642"/>
              <a:t>FPGA-Based Real-Time Driver Drowsiness Detection Using RISC-V and Hardware Acceleration</a:t>
            </a:r>
            <a:endParaRPr sz="3642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2834125"/>
            <a:ext cx="8520600" cy="19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/>
              <a:t>S K Hari Kheshav CS24S025</a:t>
            </a:r>
            <a:endParaRPr sz="14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Department of Computer Science and Engineering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Saptajit Banerjee ID25S001</a:t>
            </a:r>
            <a:endParaRPr sz="14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School of Interdisciplinary Studies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/>
              <a:t>K Srirag ID25S030</a:t>
            </a:r>
            <a:endParaRPr sz="14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School of Interdisciplinary Studies</a:t>
            </a:r>
            <a:endParaRPr sz="1400"/>
          </a:p>
        </p:txBody>
      </p:sp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/>
          </a:blip>
          <a:srcRect b="22596" l="19024" r="19110" t="23449"/>
          <a:stretch/>
        </p:blipFill>
        <p:spPr>
          <a:xfrm>
            <a:off x="101700" y="87206"/>
            <a:ext cx="1199476" cy="104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 (Software)</a:t>
            </a:r>
            <a:endParaRPr/>
          </a:p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112075" y="1102175"/>
            <a:ext cx="852300" cy="48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Start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CARLA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1386850" y="1102175"/>
            <a:ext cx="1508100" cy="48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Drive Car</a:t>
            </a:r>
            <a:endParaRPr b="1" sz="13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(Manual Mode)</a:t>
            </a:r>
            <a:endParaRPr b="1" sz="13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3317425" y="1102175"/>
            <a:ext cx="852300" cy="48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Capture Frames</a:t>
            </a:r>
            <a:endParaRPr b="1" sz="13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592200" y="1102175"/>
            <a:ext cx="1508100" cy="48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Extract Faces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(Media Pipe)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6522775" y="1102175"/>
            <a:ext cx="1140300" cy="48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Drowsiness Detection</a:t>
            </a:r>
            <a:endParaRPr b="1" sz="13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7604279" y="2292691"/>
            <a:ext cx="1241100" cy="48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One Minute Buffer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5121175" y="2850950"/>
            <a:ext cx="2380800" cy="2013300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If &gt;=70% of Detections Drowsy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149504" y="2806825"/>
            <a:ext cx="1958400" cy="48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Drive Car</a:t>
            </a:r>
            <a:endParaRPr b="1" sz="13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(Autonomous Mode)</a:t>
            </a:r>
            <a:endParaRPr b="1" sz="13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1161700" y="2985500"/>
            <a:ext cx="1958400" cy="1744200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Switch to Manual Mode</a:t>
            </a:r>
            <a:endParaRPr b="1" sz="13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964375" y="1234325"/>
            <a:ext cx="422400" cy="20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2895025" y="1241675"/>
            <a:ext cx="422400" cy="20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4169725" y="1241675"/>
            <a:ext cx="422400" cy="20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100375" y="1234325"/>
            <a:ext cx="422400" cy="20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4"/>
          <p:cNvSpPr/>
          <p:nvPr/>
        </p:nvSpPr>
        <p:spPr>
          <a:xfrm rot="5400000">
            <a:off x="7549450" y="1406800"/>
            <a:ext cx="970200" cy="742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4"/>
          <p:cNvSpPr/>
          <p:nvPr/>
        </p:nvSpPr>
        <p:spPr>
          <a:xfrm rot="10800000">
            <a:off x="7524350" y="2806825"/>
            <a:ext cx="788100" cy="1249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4"/>
          <p:cNvSpPr/>
          <p:nvPr/>
        </p:nvSpPr>
        <p:spPr>
          <a:xfrm rot="-5400000">
            <a:off x="1449850" y="2184491"/>
            <a:ext cx="1386900" cy="21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4"/>
          <p:cNvSpPr/>
          <p:nvPr/>
        </p:nvSpPr>
        <p:spPr>
          <a:xfrm rot="-5400000">
            <a:off x="4555950" y="3365150"/>
            <a:ext cx="602100" cy="5145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4"/>
          <p:cNvSpPr/>
          <p:nvPr/>
        </p:nvSpPr>
        <p:spPr>
          <a:xfrm rot="10800000">
            <a:off x="3144738" y="3321346"/>
            <a:ext cx="514500" cy="675900"/>
          </a:xfrm>
          <a:prstGeom prst="bentArrow">
            <a:avLst>
              <a:gd fmla="val 25000" name="adj1"/>
              <a:gd fmla="val 25000" name="adj2"/>
              <a:gd fmla="val 19980" name="adj3"/>
              <a:gd fmla="val 43750" name="adj4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4"/>
          <p:cNvSpPr/>
          <p:nvPr/>
        </p:nvSpPr>
        <p:spPr>
          <a:xfrm flipH="1">
            <a:off x="2248475" y="2042677"/>
            <a:ext cx="4152900" cy="764100"/>
          </a:xfrm>
          <a:prstGeom prst="bentArrow">
            <a:avLst>
              <a:gd fmla="val 25000" name="adj1"/>
              <a:gd fmla="val 25000" name="adj2"/>
              <a:gd fmla="val 25000" name="adj3"/>
              <a:gd fmla="val 41533" name="adj4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4"/>
          <p:cNvSpPr/>
          <p:nvPr/>
        </p:nvSpPr>
        <p:spPr>
          <a:xfrm flipH="1" rot="5400000">
            <a:off x="2470125" y="3001475"/>
            <a:ext cx="1618800" cy="2258400"/>
          </a:xfrm>
          <a:prstGeom prst="bentArrow">
            <a:avLst>
              <a:gd fmla="val 10092" name="adj1"/>
              <a:gd fmla="val 10910" name="adj2"/>
              <a:gd fmla="val 12721" name="adj3"/>
              <a:gd fmla="val 43750" name="adj4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333867" y="2512951"/>
            <a:ext cx="6612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FALSE</a:t>
            </a:r>
            <a:endParaRPr b="1"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585046" y="3894398"/>
            <a:ext cx="6612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TRUE</a:t>
            </a:r>
            <a:endParaRPr b="1"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259433" y="4479781"/>
            <a:ext cx="6612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FALSE</a:t>
            </a:r>
            <a:endParaRPr b="1"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527569" y="2673468"/>
            <a:ext cx="6612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TRUE</a:t>
            </a:r>
            <a:endParaRPr b="1"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Demo</a:t>
            </a:r>
            <a:endParaRPr/>
          </a:p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" name="Google Shape;104;p15" title="MID TERM 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588" y="1239550"/>
            <a:ext cx="8162825" cy="342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Pipelines</a:t>
            </a:r>
            <a:endParaRPr/>
          </a:p>
        </p:txBody>
      </p:sp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300900" y="1756150"/>
            <a:ext cx="1291500" cy="5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Model Training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300900" y="2713675"/>
            <a:ext cx="1291500" cy="41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Pruning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300900" y="3510125"/>
            <a:ext cx="1291500" cy="41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Clustering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264150" y="4306575"/>
            <a:ext cx="1365000" cy="41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Quantization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843750" y="2328850"/>
            <a:ext cx="205800" cy="36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843750" y="3136500"/>
            <a:ext cx="205800" cy="36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843750" y="3932950"/>
            <a:ext cx="205800" cy="36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698271" y="1023849"/>
            <a:ext cx="30657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Standard Optimization Pipeline (TFMOT)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1792875" y="1878800"/>
            <a:ext cx="2598300" cy="30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Model Compression :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Achieved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6x</a:t>
            </a:r>
            <a:r>
              <a:rPr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size reduction</a:t>
            </a:r>
            <a:r>
              <a:rPr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</a:rPr>
              <a:t>↑</a:t>
            </a: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via the TFMOT pipeline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The Bottleneck :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Observed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17x</a:t>
            </a: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higher latency</a:t>
            </a: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200">
                <a:solidFill>
                  <a:srgbClr val="FF0000"/>
                </a:solidFill>
                <a:highlight>
                  <a:srgbClr val="FFFFFF"/>
                </a:highlight>
              </a:rPr>
              <a:t>↓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</a:t>
            </a: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11x</a:t>
            </a: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lower throughput</a:t>
            </a: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200">
                <a:solidFill>
                  <a:srgbClr val="FF0000"/>
                </a:solidFill>
                <a:highlight>
                  <a:srgbClr val="FFFFFF"/>
                </a:highlight>
              </a:rPr>
              <a:t>↓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 Keras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The Solution :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Migrated to </a:t>
            </a:r>
            <a:r>
              <a:rPr b="1"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ONNX</a:t>
            </a:r>
            <a:r>
              <a:rPr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</a:t>
            </a:r>
            <a:r>
              <a:rPr b="1"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bypass high-level software overhead</a:t>
            </a:r>
            <a:endParaRPr b="1" sz="1200">
              <a:solidFill>
                <a:srgbClr val="008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Hardware Fusion :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Combined model layers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restore real-time performance for FPGA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2047125" y="1565875"/>
            <a:ext cx="20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Model Size Reduction</a:t>
            </a:r>
            <a:endParaRPr b="1" sz="1200">
              <a:solidFill>
                <a:srgbClr val="008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1" name="Google Shape;121;p16"/>
          <p:cNvCxnSpPr/>
          <p:nvPr/>
        </p:nvCxnSpPr>
        <p:spPr>
          <a:xfrm>
            <a:off x="4554900" y="1023849"/>
            <a:ext cx="34200" cy="39003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6"/>
          <p:cNvSpPr/>
          <p:nvPr/>
        </p:nvSpPr>
        <p:spPr>
          <a:xfrm>
            <a:off x="4886300" y="1594925"/>
            <a:ext cx="834600" cy="41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Model Training</a:t>
            </a:r>
            <a:endParaRPr b="1"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4733600" y="2269863"/>
            <a:ext cx="1140000" cy="41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MLIR </a:t>
            </a:r>
            <a:endParaRPr b="1"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Optimization</a:t>
            </a:r>
            <a:endParaRPr b="1"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752825" y="2958725"/>
            <a:ext cx="1082700" cy="39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ONNX Conversion</a:t>
            </a:r>
            <a:endParaRPr b="1"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4724175" y="3629575"/>
            <a:ext cx="1140000" cy="39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ONNX Simplification</a:t>
            </a:r>
            <a:endParaRPr b="1"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4724175" y="4300418"/>
            <a:ext cx="1140000" cy="39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Static INT8 Quantization</a:t>
            </a:r>
            <a:endParaRPr b="1"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5286215" y="921667"/>
            <a:ext cx="30657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ONNX Optimization Pipeline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162550" y="2006525"/>
            <a:ext cx="247500" cy="263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179850" y="2688400"/>
            <a:ext cx="247500" cy="263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179850" y="3359250"/>
            <a:ext cx="247500" cy="263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179850" y="4030100"/>
            <a:ext cx="247500" cy="263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6018100" y="1602875"/>
            <a:ext cx="3065700" cy="31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Performance Gain:</a:t>
            </a:r>
            <a:r>
              <a:rPr b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Achieved </a:t>
            </a:r>
            <a:r>
              <a:rPr b="1"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8x higher throughput </a:t>
            </a:r>
            <a:r>
              <a:rPr b="1" lang="en" sz="1200">
                <a:solidFill>
                  <a:srgbClr val="008000"/>
                </a:solidFill>
                <a:highlight>
                  <a:schemeClr val="lt1"/>
                </a:highlight>
              </a:rPr>
              <a:t>↑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</a:t>
            </a:r>
            <a:r>
              <a:rPr b="1"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6.5x lower latency </a:t>
            </a:r>
            <a:r>
              <a:rPr b="1" lang="en" sz="1200">
                <a:solidFill>
                  <a:srgbClr val="008000"/>
                </a:solidFill>
                <a:highlight>
                  <a:schemeClr val="lt1"/>
                </a:highlight>
              </a:rPr>
              <a:t>↑</a:t>
            </a:r>
            <a:endParaRPr b="1" sz="1200">
              <a:solidFill>
                <a:srgbClr val="008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Accuracy Collapse: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After Quantization, Observed a drop from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99% to 55% </a:t>
            </a:r>
            <a:r>
              <a:rPr b="1" lang="en" sz="1200">
                <a:solidFill>
                  <a:srgbClr val="FF0000"/>
                </a:solidFill>
                <a:highlight>
                  <a:schemeClr val="lt1"/>
                </a:highlight>
              </a:rPr>
              <a:t>↓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with marginal throughput and latency degradation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b="1" i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Solution: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Hybridized </a:t>
            </a:r>
            <a:r>
              <a:rPr b="1"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TFLite Quantization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with the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ONNX pipeline</a:t>
            </a:r>
            <a:endParaRPr sz="1200">
              <a:solidFill>
                <a:srgbClr val="008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Expected Result: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Restored precision with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90%+ accuracy</a:t>
            </a: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retention for FPGA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6348587" y="1484226"/>
            <a:ext cx="20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Latency</a:t>
            </a:r>
            <a:r>
              <a:rPr b="1" lang="en" sz="12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 Reduction</a:t>
            </a:r>
            <a:endParaRPr b="1" sz="1200">
              <a:solidFill>
                <a:srgbClr val="008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Merged Optimization Pipeline</a:t>
            </a:r>
            <a:endParaRPr/>
          </a:p>
        </p:txBody>
      </p:sp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300900" y="1177075"/>
            <a:ext cx="1291500" cy="5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Model Training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499475" y="1257625"/>
            <a:ext cx="1291500" cy="41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Pruning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4698050" y="1257625"/>
            <a:ext cx="1291500" cy="41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Clustering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3124599" y="2974813"/>
            <a:ext cx="1365000" cy="41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Quantization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6796988" y="1169888"/>
            <a:ext cx="1365000" cy="5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ONNX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Optimization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264161" y="2894275"/>
            <a:ext cx="1365000" cy="5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ONNX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Optimization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989544" y="2329044"/>
            <a:ext cx="3014575" cy="1703150"/>
          </a:xfrm>
          <a:prstGeom prst="flowChartDecision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Accuracy Collapsed After Full Quantization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1629151" y="1328451"/>
            <a:ext cx="836100" cy="25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3826463" y="1335626"/>
            <a:ext cx="836100" cy="25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6025031" y="1328450"/>
            <a:ext cx="736500" cy="25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7361225" y="1768300"/>
            <a:ext cx="261300" cy="521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4525913" y="3048638"/>
            <a:ext cx="1420500" cy="255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1666613" y="3052819"/>
            <a:ext cx="1420500" cy="255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4720137" y="3171467"/>
            <a:ext cx="103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TRUE</a:t>
            </a:r>
            <a:endParaRPr b="1" sz="12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833750" y="4520451"/>
            <a:ext cx="1291500" cy="41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STOP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366200" y="4066263"/>
            <a:ext cx="261300" cy="411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8180444" y="1176325"/>
            <a:ext cx="9465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On Clustered Model</a:t>
            </a:r>
            <a:endParaRPr b="1" sz="9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7570852" y="1784500"/>
            <a:ext cx="12915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Full Quantization by ONNX Runtime</a:t>
            </a:r>
            <a:endParaRPr b="1" sz="9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236400" y="3466975"/>
            <a:ext cx="14205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On Partially Quantized Model</a:t>
            </a:r>
            <a:endParaRPr b="1" sz="9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3099100" y="3386425"/>
            <a:ext cx="14205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Partial </a:t>
            </a:r>
            <a:r>
              <a:rPr b="1" lang="en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Quantization by TFLite Converter</a:t>
            </a:r>
            <a:endParaRPr b="1" sz="9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373564" y="3988667"/>
            <a:ext cx="103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FALSE</a:t>
            </a:r>
            <a:endParaRPr b="1" sz="12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3336094" y="2453125"/>
            <a:ext cx="9465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On Clustered Model</a:t>
            </a:r>
            <a:endParaRPr b="1" sz="9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Report (</a:t>
            </a:r>
            <a:r>
              <a:rPr lang="en"/>
              <a:t>Partially Quantized Models)</a:t>
            </a:r>
            <a:endParaRPr/>
          </a:p>
        </p:txBody>
      </p:sp>
      <p:sp>
        <p:nvSpPr>
          <p:cNvPr id="167" name="Google Shape;16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68" name="Google Shape;168;p18"/>
          <p:cNvGraphicFramePr/>
          <p:nvPr/>
        </p:nvGraphicFramePr>
        <p:xfrm>
          <a:off x="96094" y="111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{E0DCF49F-226C-46F7-8EDB-66AEBBD171CA}</a:tableStyleId>
              </a:tblPr>
              <a:tblGrid>
                <a:gridCol w="791000"/>
                <a:gridCol w="726600"/>
                <a:gridCol w="597800"/>
                <a:gridCol w="705125"/>
                <a:gridCol w="705125"/>
                <a:gridCol w="705125"/>
              </a:tblGrid>
              <a:tr h="65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800">
                          <a:solidFill>
                            <a:srgbClr val="FFFFFF"/>
                          </a:solidFill>
                        </a:rPr>
                        <a:t>MobileNetV3 Small</a:t>
                      </a:r>
                      <a:endParaRPr b="1" i="1" sz="800">
                        <a:solidFill>
                          <a:srgbClr val="FFFFFF"/>
                        </a:solidFill>
                      </a:endParaRPr>
                    </a:p>
                  </a:txBody>
                  <a:tcPr marT="9125" marB="9125" marR="18275" marL="182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Throughput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25" marB="9125" marR="9125" marL="91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25" marB="9125" marR="9125" marL="91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Model Size (Raw)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Model Size (ZIP)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Latency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Original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24.1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99.14%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31.20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28.24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41.54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Pruning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16.7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99.14%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12.50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7.09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59.73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Clustering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15.6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98.90%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12.38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1.90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64.17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Partial Quanitzation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9.73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93.83%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3.22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1.53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102.73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Simplified FP32 ONNX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80.38 Imgs/sec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96.88</a:t>
                      </a: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%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3.18 MB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1.48 MB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12.44 ms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Fully Quantized ONNX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202.52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0000"/>
                          </a:solidFill>
                        </a:rPr>
                        <a:t>47.16%</a:t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3.21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1.49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4.94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" name="Google Shape;169;p18"/>
          <p:cNvGraphicFramePr/>
          <p:nvPr/>
        </p:nvGraphicFramePr>
        <p:xfrm>
          <a:off x="4648150" y="111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{E0DCF49F-226C-46F7-8EDB-66AEBBD171CA}</a:tableStyleId>
              </a:tblPr>
              <a:tblGrid>
                <a:gridCol w="822900"/>
                <a:gridCol w="755925"/>
                <a:gridCol w="621950"/>
                <a:gridCol w="733600"/>
                <a:gridCol w="733600"/>
                <a:gridCol w="733600"/>
              </a:tblGrid>
              <a:tr h="65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800">
                          <a:solidFill>
                            <a:srgbClr val="FFFFFF"/>
                          </a:solidFill>
                        </a:rPr>
                        <a:t>MobileNetV3 </a:t>
                      </a:r>
                      <a:r>
                        <a:rPr b="1" i="1" lang="en" sz="800">
                          <a:solidFill>
                            <a:srgbClr val="FFFFFF"/>
                          </a:solidFill>
                        </a:rPr>
                        <a:t>Large</a:t>
                      </a:r>
                      <a:endParaRPr b="1" i="1" sz="800">
                        <a:solidFill>
                          <a:srgbClr val="FFFFFF"/>
                        </a:solidFill>
                      </a:endParaRPr>
                    </a:p>
                  </a:txBody>
                  <a:tcPr marT="9125" marB="9125" marR="18275" marL="182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Throughput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25" marB="9125" marR="9125" marL="91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25" marB="9125" marR="9125" marL="91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Model Size (Raw)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Model Size (ZIP)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Latency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Original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24.7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98.76%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47.43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41.17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40.56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Pruning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14.9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98.76%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23.96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16.95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67.30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Clustering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14.8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99.90%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23.81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4.24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67.36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Partial Quanitzation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3.17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76.37%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6.22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3.63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315.50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Simplified FP32 ONNX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45.43 Imgs/sec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100.00%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6.05 MB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3.50 MB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22.02 ms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Fully Quantized ONNX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119.61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0000"/>
                          </a:solidFill>
                        </a:rPr>
                        <a:t>52.92%</a:t>
                      </a:r>
                      <a:endParaRPr b="1" sz="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6.07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3.26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8.36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Report (Fully Quantized Models)</a:t>
            </a:r>
            <a:endParaRPr/>
          </a:p>
        </p:txBody>
      </p:sp>
      <p:sp>
        <p:nvSpPr>
          <p:cNvPr id="175" name="Google Shape;1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76" name="Google Shape;176;p19"/>
          <p:cNvGraphicFramePr/>
          <p:nvPr/>
        </p:nvGraphicFramePr>
        <p:xfrm>
          <a:off x="83088" y="1364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{E0DCF49F-226C-46F7-8EDB-66AEBBD171CA}</a:tableStyleId>
              </a:tblPr>
              <a:tblGrid>
                <a:gridCol w="782100"/>
                <a:gridCol w="718425"/>
                <a:gridCol w="591075"/>
                <a:gridCol w="697200"/>
                <a:gridCol w="697200"/>
                <a:gridCol w="697200"/>
              </a:tblGrid>
              <a:tr h="65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800">
                          <a:solidFill>
                            <a:srgbClr val="FFFFFF"/>
                          </a:solidFill>
                        </a:rPr>
                        <a:t>ResNet - 18</a:t>
                      </a:r>
                      <a:endParaRPr b="1" i="1" sz="800">
                        <a:solidFill>
                          <a:srgbClr val="FFFFFF"/>
                        </a:solidFill>
                      </a:endParaRPr>
                    </a:p>
                  </a:txBody>
                  <a:tcPr marT="9125" marB="9125" marR="18275" marL="182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Throughput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25" marB="9125" marR="9125" marL="91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25" marB="9125" marR="9125" marL="91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Model Size (Raw)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Model Size (ZIP)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Latency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Original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25.9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99.86%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128.40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118.27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38.67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Pruning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25.7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99.86%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42.89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39.61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36.37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Clustering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45.8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99.90%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42.87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9.39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21.84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Simplified FP32 ONNX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56.44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99.58%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42.64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39.53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17.72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Fully Quantized ONNX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76.44 Imgs/sec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99.79%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10.72 MB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10.15 MB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13.08 ms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19"/>
          <p:cNvGraphicFramePr/>
          <p:nvPr/>
        </p:nvGraphicFramePr>
        <p:xfrm>
          <a:off x="4837938" y="1364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{E0DCF49F-226C-46F7-8EDB-66AEBBD171CA}</a:tableStyleId>
              </a:tblPr>
              <a:tblGrid>
                <a:gridCol w="782100"/>
                <a:gridCol w="718425"/>
                <a:gridCol w="591075"/>
                <a:gridCol w="697200"/>
                <a:gridCol w="697200"/>
                <a:gridCol w="697200"/>
              </a:tblGrid>
              <a:tr h="65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800">
                          <a:solidFill>
                            <a:srgbClr val="FFFFFF"/>
                          </a:solidFill>
                        </a:rPr>
                        <a:t>RTDD (IEEE)</a:t>
                      </a:r>
                      <a:endParaRPr b="1" i="1" sz="800">
                        <a:solidFill>
                          <a:srgbClr val="FFFFFF"/>
                        </a:solidFill>
                      </a:endParaRPr>
                    </a:p>
                  </a:txBody>
                  <a:tcPr marT="9125" marB="9125" marR="18275" marL="182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Throughput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25" marB="9125" marR="9125" marL="91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25" marB="9125" marR="9125" marL="91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Model Size (Raw)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Model Size (ZIP)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Latency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Original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25.2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99.90%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337.18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312.66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39.69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Pruning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135.3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99.81%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112.42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39.20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7.39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Clustering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135.1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99.76%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112.41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7.94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7.40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Simplified FP32 ONNX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6.08 Imgs/sec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99.79%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112.37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39.19 MB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164.57 ms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Fully Quantized ONNX</a:t>
                      </a:r>
                      <a:endParaRPr b="1" sz="800"/>
                    </a:p>
                  </a:txBody>
                  <a:tcPr marT="9125" marB="9125" marR="9125" marL="91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7.06 Imgs/sec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99.79%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28.13 MB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10.76 MB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141.63 ms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Gains Across Models</a:t>
            </a:r>
            <a:endParaRPr/>
          </a:p>
        </p:txBody>
      </p:sp>
      <p:sp>
        <p:nvSpPr>
          <p:cNvPr id="183" name="Google Shape;18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2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0" y="947150"/>
            <a:ext cx="2790376" cy="1968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2942" y="947150"/>
            <a:ext cx="2830838" cy="199744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>
            <p:ph idx="1" type="body"/>
          </p:nvPr>
        </p:nvSpPr>
        <p:spPr>
          <a:xfrm>
            <a:off x="5610225" y="1028700"/>
            <a:ext cx="3339600" cy="394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55000" lnSpcReduction="20000"/>
          </a:bodyPr>
          <a:lstStyle/>
          <a:p>
            <a:pPr indent="-291465" lvl="0" marL="457200" rtl="0" algn="just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b="1" lang="en">
                <a:solidFill>
                  <a:srgbClr val="980000"/>
                </a:solidFill>
              </a:rPr>
              <a:t>Throughput : </a:t>
            </a:r>
            <a:r>
              <a:rPr lang="en">
                <a:solidFill>
                  <a:schemeClr val="dk1"/>
                </a:solidFill>
              </a:rPr>
              <a:t>Three of five models achieved substantial throughput gains following optimization. </a:t>
            </a:r>
            <a:r>
              <a:rPr lang="en">
                <a:solidFill>
                  <a:srgbClr val="980000"/>
                </a:solidFill>
              </a:rPr>
              <a:t>MobileNetV3 Small</a:t>
            </a:r>
            <a:r>
              <a:rPr lang="en">
                <a:solidFill>
                  <a:schemeClr val="dk1"/>
                </a:solidFill>
              </a:rPr>
              <a:t> delivered the highest improvement at </a:t>
            </a:r>
            <a:r>
              <a:rPr b="1" lang="en">
                <a:solidFill>
                  <a:srgbClr val="008000"/>
                </a:solidFill>
              </a:rPr>
              <a:t>+233% (24.1 → 80.38 img/s)</a:t>
            </a:r>
            <a:r>
              <a:rPr lang="en">
                <a:solidFill>
                  <a:schemeClr val="dk1"/>
                </a:solidFill>
              </a:rPr>
              <a:t>, followed by </a:t>
            </a:r>
            <a:r>
              <a:rPr lang="en">
                <a:solidFill>
                  <a:srgbClr val="980000"/>
                </a:solidFill>
              </a:rPr>
              <a:t>ResNet 18</a:t>
            </a:r>
            <a:r>
              <a:rPr lang="en">
                <a:solidFill>
                  <a:schemeClr val="dk1"/>
                </a:solidFill>
              </a:rPr>
              <a:t> at </a:t>
            </a:r>
            <a:r>
              <a:rPr b="1" lang="en">
                <a:solidFill>
                  <a:srgbClr val="008000"/>
                </a:solidFill>
              </a:rPr>
              <a:t>+195% (25.9 → 76.44 img/s)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980000"/>
                </a:solidFill>
              </a:rPr>
              <a:t>MobileNetV3 Large</a:t>
            </a:r>
            <a:r>
              <a:rPr lang="en">
                <a:solidFill>
                  <a:schemeClr val="dk1"/>
                </a:solidFill>
              </a:rPr>
              <a:t> at </a:t>
            </a:r>
            <a:r>
              <a:rPr b="1" lang="en">
                <a:solidFill>
                  <a:srgbClr val="008000"/>
                </a:solidFill>
              </a:rPr>
              <a:t>+84% (24.7 → 45.43 img/s)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1465" lvl="0" marL="457200" rtl="0" algn="just">
              <a:spcBef>
                <a:spcPts val="100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b="1" lang="en">
                <a:solidFill>
                  <a:srgbClr val="980000"/>
                </a:solidFill>
              </a:rPr>
              <a:t>Latency : </a:t>
            </a:r>
            <a:r>
              <a:rPr lang="en">
                <a:solidFill>
                  <a:schemeClr val="dk1"/>
                </a:solidFill>
              </a:rPr>
              <a:t>Inference latency was significantly reduced in three models. </a:t>
            </a:r>
            <a:r>
              <a:rPr lang="en">
                <a:solidFill>
                  <a:srgbClr val="980000"/>
                </a:solidFill>
              </a:rPr>
              <a:t>MobileNetV3 Small </a:t>
            </a:r>
            <a:r>
              <a:rPr lang="en">
                <a:solidFill>
                  <a:schemeClr val="dk1"/>
                </a:solidFill>
              </a:rPr>
              <a:t>achieved a </a:t>
            </a:r>
            <a:r>
              <a:rPr b="1" lang="en">
                <a:solidFill>
                  <a:srgbClr val="008000"/>
                </a:solidFill>
              </a:rPr>
              <a:t>70% latency reduction (41.54 → 12.44 ms)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980000"/>
                </a:solidFill>
              </a:rPr>
              <a:t>ResNet 18</a:t>
            </a:r>
            <a:r>
              <a:rPr lang="en">
                <a:solidFill>
                  <a:schemeClr val="dk1"/>
                </a:solidFill>
              </a:rPr>
              <a:t> a </a:t>
            </a:r>
            <a:r>
              <a:rPr b="1" lang="en">
                <a:solidFill>
                  <a:srgbClr val="008000"/>
                </a:solidFill>
              </a:rPr>
              <a:t>66% reduction (38.67 → 13.08 ms)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lang="en">
                <a:solidFill>
                  <a:srgbClr val="980000"/>
                </a:solidFill>
              </a:rPr>
              <a:t>MobileNetV3 Large</a:t>
            </a:r>
            <a:r>
              <a:rPr lang="en">
                <a:solidFill>
                  <a:schemeClr val="dk1"/>
                </a:solidFill>
              </a:rPr>
              <a:t> a </a:t>
            </a:r>
            <a:r>
              <a:rPr b="1" lang="en">
                <a:solidFill>
                  <a:srgbClr val="008000"/>
                </a:solidFill>
              </a:rPr>
              <a:t>46% reduction (40.56 → 22.02 ms)</a:t>
            </a:r>
            <a:r>
              <a:rPr lang="en">
                <a:solidFill>
                  <a:schemeClr val="dk1"/>
                </a:solidFill>
              </a:rPr>
              <a:t>, making them viable for real-time edge deployment.</a:t>
            </a:r>
            <a:endParaRPr>
              <a:solidFill>
                <a:schemeClr val="dk1"/>
              </a:solidFill>
            </a:endParaRPr>
          </a:p>
          <a:p>
            <a:pPr indent="-291465" lvl="0" marL="457200" rtl="0" algn="just">
              <a:spcBef>
                <a:spcPts val="100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b="1" lang="en">
                <a:solidFill>
                  <a:srgbClr val="980000"/>
                </a:solidFill>
              </a:rPr>
              <a:t>Model Size Reduction : </a:t>
            </a:r>
            <a:r>
              <a:rPr lang="en">
                <a:solidFill>
                  <a:schemeClr val="dk1"/>
                </a:solidFill>
              </a:rPr>
              <a:t>All five models achieved drastic reductions in model size, averaging </a:t>
            </a:r>
            <a:r>
              <a:rPr b="1" lang="en">
                <a:solidFill>
                  <a:srgbClr val="008000"/>
                </a:solidFill>
              </a:rPr>
              <a:t>over 90% compression</a:t>
            </a:r>
            <a:r>
              <a:rPr lang="en">
                <a:solidFill>
                  <a:schemeClr val="dk1"/>
                </a:solidFill>
              </a:rPr>
              <a:t> of raw model size. The most significant reduction was seen in </a:t>
            </a:r>
            <a:r>
              <a:rPr lang="en">
                <a:solidFill>
                  <a:srgbClr val="980000"/>
                </a:solidFill>
              </a:rPr>
              <a:t>MobileNetV2</a:t>
            </a:r>
            <a:r>
              <a:rPr lang="en">
                <a:solidFill>
                  <a:schemeClr val="dk1"/>
                </a:solidFill>
              </a:rPr>
              <a:t>, shrinking from </a:t>
            </a:r>
            <a:r>
              <a:rPr b="1" lang="en">
                <a:solidFill>
                  <a:srgbClr val="008000"/>
                </a:solidFill>
              </a:rPr>
              <a:t>760.64 MB to 64.07 MB (−92%)</a:t>
            </a:r>
            <a:r>
              <a:rPr lang="en">
                <a:solidFill>
                  <a:schemeClr val="dk1"/>
                </a:solidFill>
              </a:rPr>
              <a:t>, followed by </a:t>
            </a:r>
            <a:r>
              <a:rPr lang="en">
                <a:solidFill>
                  <a:srgbClr val="980000"/>
                </a:solidFill>
              </a:rPr>
              <a:t>RTDD (IEEE)</a:t>
            </a:r>
            <a:r>
              <a:rPr lang="en">
                <a:solidFill>
                  <a:schemeClr val="dk1"/>
                </a:solidFill>
              </a:rPr>
              <a:t> from </a:t>
            </a:r>
            <a:r>
              <a:rPr b="1" lang="en">
                <a:solidFill>
                  <a:srgbClr val="008000"/>
                </a:solidFill>
              </a:rPr>
              <a:t>337.18 MB to 28.13 MB (−92%)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980000"/>
                </a:solidFill>
              </a:rPr>
              <a:t>ResNet 18</a:t>
            </a:r>
            <a:r>
              <a:rPr lang="en">
                <a:solidFill>
                  <a:schemeClr val="dk1"/>
                </a:solidFill>
              </a:rPr>
              <a:t> from </a:t>
            </a:r>
            <a:r>
              <a:rPr b="1" lang="en">
                <a:solidFill>
                  <a:srgbClr val="008000"/>
                </a:solidFill>
              </a:rPr>
              <a:t>128.40 MB to 10.72 MB (−92%)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7" name="Google Shape;187;p20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2450" y="2916100"/>
            <a:ext cx="2830825" cy="20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25" y="2793524"/>
            <a:ext cx="3095535" cy="218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Optimized Model Selection for Edge Deployment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5" name="Google Shape;195;p2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14140"/>
            <a:ext cx="5389648" cy="331502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>
            <p:ph idx="1" type="body"/>
          </p:nvPr>
        </p:nvSpPr>
        <p:spPr>
          <a:xfrm>
            <a:off x="5114100" y="969250"/>
            <a:ext cx="4029900" cy="39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55000"/>
          </a:bodyPr>
          <a:lstStyle/>
          <a:p>
            <a:pPr indent="-291465" lvl="0" marL="457200" rtl="0" algn="just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b="1" lang="en">
                <a:solidFill>
                  <a:srgbClr val="980000"/>
                </a:solidFill>
              </a:rPr>
              <a:t>Multi-Metric Benchmarking :</a:t>
            </a:r>
            <a:r>
              <a:rPr lang="en">
                <a:solidFill>
                  <a:schemeClr val="dk1"/>
                </a:solidFill>
              </a:rPr>
              <a:t> All five optimized models were compared across Throughput, Latency, Accuracy, and Model Size using unit vector normalization for fair cross-metric evaluation. </a:t>
            </a:r>
            <a:r>
              <a:rPr lang="en">
                <a:solidFill>
                  <a:srgbClr val="980000"/>
                </a:solidFill>
              </a:rPr>
              <a:t>MobileNetV3 Small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980000"/>
                </a:solidFill>
              </a:rPr>
              <a:t>MobileNetV3 Large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lang="en">
                <a:solidFill>
                  <a:srgbClr val="980000"/>
                </a:solidFill>
              </a:rPr>
              <a:t>ResNet 18</a:t>
            </a:r>
            <a:r>
              <a:rPr lang="en">
                <a:solidFill>
                  <a:schemeClr val="dk1"/>
                </a:solidFill>
              </a:rPr>
              <a:t> consistently ranked as the top three performers.</a:t>
            </a:r>
            <a:endParaRPr>
              <a:solidFill>
                <a:schemeClr val="dk1"/>
              </a:solidFill>
            </a:endParaRPr>
          </a:p>
          <a:p>
            <a:pPr indent="-291465" lvl="0" marL="457200" rtl="0" algn="just">
              <a:spcBef>
                <a:spcPts val="100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b="1" lang="en">
                <a:solidFill>
                  <a:srgbClr val="980000"/>
                </a:solidFill>
              </a:rPr>
              <a:t>MobileNetV3 Small — Best Overall Performer 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980000"/>
                </a:solidFill>
              </a:rPr>
              <a:t>MobileNetV3 Small</a:t>
            </a:r>
            <a:r>
              <a:rPr lang="en">
                <a:solidFill>
                  <a:schemeClr val="dk1"/>
                </a:solidFill>
              </a:rPr>
              <a:t> ranked best in 3 out of 4 metrics, achieving the </a:t>
            </a:r>
            <a:r>
              <a:rPr b="1" lang="en">
                <a:solidFill>
                  <a:srgbClr val="008000"/>
                </a:solidFill>
              </a:rPr>
              <a:t>highest throughput (80.38 img/s)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rgbClr val="008000"/>
                </a:solidFill>
              </a:rPr>
              <a:t>lowest latency (12.44 ms)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b="1" lang="en">
                <a:solidFill>
                  <a:srgbClr val="008000"/>
                </a:solidFill>
              </a:rPr>
              <a:t>smallest model size (3.18 MB)</a:t>
            </a:r>
            <a:r>
              <a:rPr lang="en">
                <a:solidFill>
                  <a:schemeClr val="dk1"/>
                </a:solidFill>
              </a:rPr>
              <a:t>, making it the most suitable model for edge deployment.</a:t>
            </a:r>
            <a:endParaRPr>
              <a:solidFill>
                <a:schemeClr val="dk1"/>
              </a:solidFill>
            </a:endParaRPr>
          </a:p>
          <a:p>
            <a:pPr indent="-291465" lvl="0" marL="457200" rtl="0" algn="just">
              <a:spcBef>
                <a:spcPts val="100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b="1" lang="en">
                <a:solidFill>
                  <a:srgbClr val="980000"/>
                </a:solidFill>
              </a:rPr>
              <a:t>ResNet 18 — Final Selection for Hardware Acceleration : </a:t>
            </a:r>
            <a:r>
              <a:rPr lang="en">
                <a:solidFill>
                  <a:srgbClr val="980000"/>
                </a:solidFill>
              </a:rPr>
              <a:t>ResNet 18</a:t>
            </a:r>
            <a:r>
              <a:rPr lang="en">
                <a:solidFill>
                  <a:schemeClr val="dk1"/>
                </a:solidFill>
              </a:rPr>
              <a:t> was ultimately selected for deployment on our custom accelerator built using </a:t>
            </a:r>
            <a:r>
              <a:rPr lang="en">
                <a:solidFill>
                  <a:srgbClr val="980000"/>
                </a:solidFill>
              </a:rPr>
              <a:t>Apache TVM</a:t>
            </a:r>
            <a:r>
              <a:rPr lang="en">
                <a:solidFill>
                  <a:schemeClr val="dk1"/>
                </a:solidFill>
              </a:rPr>
              <a:t>. While </a:t>
            </a:r>
            <a:r>
              <a:rPr lang="en">
                <a:solidFill>
                  <a:srgbClr val="980000"/>
                </a:solidFill>
              </a:rPr>
              <a:t>MobileNetV3 Small</a:t>
            </a:r>
            <a:r>
              <a:rPr lang="en">
                <a:solidFill>
                  <a:schemeClr val="dk1"/>
                </a:solidFill>
              </a:rPr>
              <a:t> operates in </a:t>
            </a:r>
            <a:r>
              <a:rPr lang="en">
                <a:solidFill>
                  <a:srgbClr val="980000"/>
                </a:solidFill>
              </a:rPr>
              <a:t>mixed precision</a:t>
            </a:r>
            <a:r>
              <a:rPr lang="en">
                <a:solidFill>
                  <a:schemeClr val="dk1"/>
                </a:solidFill>
              </a:rPr>
              <a:t> — making TVM acceleration code </a:t>
            </a:r>
            <a:r>
              <a:rPr b="1" lang="en">
                <a:solidFill>
                  <a:srgbClr val="FF0000"/>
                </a:solidFill>
              </a:rPr>
              <a:t>significantly more complex</a:t>
            </a:r>
            <a:r>
              <a:rPr lang="en">
                <a:solidFill>
                  <a:schemeClr val="dk1"/>
                </a:solidFill>
              </a:rPr>
              <a:t> to write — </a:t>
            </a:r>
            <a:r>
              <a:rPr lang="en">
                <a:solidFill>
                  <a:srgbClr val="980000"/>
                </a:solidFill>
              </a:rPr>
              <a:t>ResNet 18's </a:t>
            </a:r>
            <a:r>
              <a:rPr b="1" lang="en">
                <a:solidFill>
                  <a:srgbClr val="008000"/>
                </a:solidFill>
              </a:rPr>
              <a:t>fully quantized architecture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rgbClr val="008000"/>
                </a:solidFill>
              </a:rPr>
              <a:t>greatly simplified the implementation of the acceleration pipeline</a:t>
            </a:r>
            <a:r>
              <a:rPr lang="en">
                <a:solidFill>
                  <a:schemeClr val="dk1"/>
                </a:solidFill>
              </a:rPr>
              <a:t>, making it the more practical choice for our custom hardware.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TVM Migration to Shakti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3594625" y="1026200"/>
            <a:ext cx="1254900" cy="73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AOT Compilation</a:t>
            </a:r>
            <a:endParaRPr b="1" sz="13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1704925" y="1026200"/>
            <a:ext cx="1521000" cy="73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Graph Optimization of Mixed Precision Model</a:t>
            </a:r>
            <a:endParaRPr b="1" sz="12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5218225" y="1026200"/>
            <a:ext cx="1254900" cy="76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C Code Generation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6841825" y="1026200"/>
            <a:ext cx="1401000" cy="73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Cross Compilation to RISCV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177625" y="1026200"/>
            <a:ext cx="1158600" cy="76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TVM Relay Import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501300" y="2262539"/>
            <a:ext cx="8141400" cy="27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Why TVM?</a:t>
            </a:r>
            <a:endParaRPr b="1" sz="17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980000"/>
              </a:buClr>
              <a:buSzPts val="1300"/>
              <a:buChar char="●"/>
            </a:pPr>
            <a:r>
              <a:rPr b="1"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Initial Setup (TFLM on Shakti CPU) :</a:t>
            </a:r>
            <a:br>
              <a:rPr b="1"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T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he </a:t>
            </a:r>
            <a:r>
              <a:rPr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TensorFlow Lite Micro (TFLM)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framework was initially ported to the </a:t>
            </a:r>
            <a:r>
              <a:rPr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Shakti CPU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platform.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980000"/>
              </a:buClr>
              <a:buSzPts val="1300"/>
              <a:buChar char="●"/>
            </a:pPr>
            <a:r>
              <a:rPr b="1"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INT8 Quantization Limitation (TFLM) :</a:t>
            </a:r>
            <a:br>
              <a:rPr b="1"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Applying </a:t>
            </a:r>
            <a:r>
              <a:rPr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INT8 quantization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led to a significant accuracy drop</a:t>
            </a: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3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(~99% → ~52%)</a:t>
            </a: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so switched to </a:t>
            </a:r>
            <a:r>
              <a:rPr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mixed precision support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980000"/>
              </a:buClr>
              <a:buSzPts val="1300"/>
              <a:buFont typeface="Open Sans"/>
              <a:buChar char="●"/>
            </a:pPr>
            <a:r>
              <a:rPr b="1"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Approach :</a:t>
            </a:r>
            <a:endParaRPr b="1" sz="13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980000"/>
              </a:buClr>
              <a:buSzPts val="1300"/>
              <a:buChar char="○"/>
            </a:pPr>
            <a:r>
              <a:rPr b="1"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Switched to TVM :</a:t>
            </a: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Since mixed precision models are not supported by TFLM framework.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980000"/>
              </a:buClr>
              <a:buSzPts val="1300"/>
              <a:buChar char="○"/>
            </a:pPr>
            <a:r>
              <a:rPr b="1"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Graph Optimization :</a:t>
            </a: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Applied transformations such as </a:t>
            </a:r>
            <a:r>
              <a:rPr i="1"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SimplifyInference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i="1"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FoldConstant</a:t>
            </a:r>
            <a:r>
              <a:rPr lang="en" sz="13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improved efficiency.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1336225" y="1303100"/>
            <a:ext cx="368700" cy="27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3225913" y="1303100"/>
            <a:ext cx="378600" cy="27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4849513" y="1303100"/>
            <a:ext cx="378600" cy="27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6473113" y="1303100"/>
            <a:ext cx="378600" cy="27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TFLM Demo</a:t>
            </a:r>
            <a:endParaRPr/>
          </a:p>
        </p:txBody>
      </p:sp>
      <p:sp>
        <p:nvSpPr>
          <p:cNvPr id="218" name="Google Shape;21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9" name="Google Shape;219;p23" title="fpga_tflm_spedu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25" y="1248642"/>
            <a:ext cx="8179126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TVM Demo</a:t>
            </a:r>
            <a:endParaRPr/>
          </a:p>
        </p:txBody>
      </p:sp>
      <p:sp>
        <p:nvSpPr>
          <p:cNvPr id="225" name="Google Shape;22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6" name="Google Shape;226;p24" title="fpga_tvm_spedu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50" y="1253759"/>
            <a:ext cx="81533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